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>
        <p:scale>
          <a:sx n="174" d="100"/>
          <a:sy n="174" d="100"/>
        </p:scale>
        <p:origin x="-1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940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2D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Fault Detection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840480" cy="3474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LSTM  |  CWRU Bearing Dataset  |  10-Class Classification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3840480" cy="1828800"/>
          </a:xfrm>
          <a:prstGeom prst="rect">
            <a:avLst/>
          </a:prstGeom>
          <a:solidFill>
            <a:srgbClr val="111F3A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788920"/>
            <a:ext cx="384048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172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Divyam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Mittal  ·  1024030008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584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Paarth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Mendiratta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1024030030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95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Gupta  ·  1024030780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2926080"/>
            <a:ext cx="1143000" cy="137160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0640" y="2926080"/>
            <a:ext cx="114300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0175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20640" y="37033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46520" y="2926080"/>
            <a:ext cx="1143000" cy="137160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2926080"/>
            <a:ext cx="114300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0175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46520" y="37033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Classes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72400" y="2926080"/>
            <a:ext cx="1143000" cy="137160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0" y="2926080"/>
            <a:ext cx="114300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30175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97.83%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772400" y="37033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840480" cy="118872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54864" cy="1188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23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Need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161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machinery failures cause costly downtime. Early fault detection is critical for manufacturing reliability.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3840480" cy="118872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94560"/>
            <a:ext cx="54864" cy="1188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49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54203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CWRU Bearing Dataset — 4,600 vibration samples across 10 fault classes at 48kHz sampling rate.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3840480" cy="118872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520440"/>
            <a:ext cx="54864" cy="1188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75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86791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deep learning pipeline to classify bearing faults (Ball, IR, OR defects) at 3 severity levels + Normal.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804672"/>
            <a:ext cx="4389120" cy="393192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868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Fault Classes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298448"/>
            <a:ext cx="73152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4791456" y="1298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819656"/>
            <a:ext cx="73152" cy="32004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21" name="Text 19"/>
          <p:cNvSpPr/>
          <p:nvPr/>
        </p:nvSpPr>
        <p:spPr>
          <a:xfrm>
            <a:off x="4791456" y="18196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Ball_007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340864"/>
            <a:ext cx="73152" cy="32004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23408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Ball_014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862072"/>
            <a:ext cx="73152" cy="32004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25" name="Text 23"/>
          <p:cNvSpPr/>
          <p:nvPr/>
        </p:nvSpPr>
        <p:spPr>
          <a:xfrm>
            <a:off x="4791456" y="2862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Ball_021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383280"/>
            <a:ext cx="7315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IR_007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1298448"/>
            <a:ext cx="7315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894576" y="1298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IR_014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1819656"/>
            <a:ext cx="7315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894576" y="18196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IR_021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2340864"/>
            <a:ext cx="7315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6894576" y="23408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OR_007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2862072"/>
            <a:ext cx="7315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6894576" y="2862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OR_014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66560" y="3383280"/>
            <a:ext cx="7315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6894576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OR_021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407408"/>
            <a:ext cx="109728" cy="10972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9" name="Text 37"/>
          <p:cNvSpPr/>
          <p:nvPr/>
        </p:nvSpPr>
        <p:spPr>
          <a:xfrm>
            <a:off x="4809744" y="43891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715000" y="4407408"/>
            <a:ext cx="109728" cy="109728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41" name="Text 39"/>
          <p:cNvSpPr/>
          <p:nvPr/>
        </p:nvSpPr>
        <p:spPr>
          <a:xfrm>
            <a:off x="5861304" y="43891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Fault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766560" y="4407408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912864" y="43891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Race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818120" y="4407408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7964424" y="43891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Race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188720" cy="868680"/>
          </a:xfrm>
          <a:prstGeom prst="roundRect">
            <a:avLst>
              <a:gd name="adj" fmla="val 10526"/>
            </a:avLst>
          </a:prstGeom>
          <a:solidFill>
            <a:srgbClr val="2D8CF0"/>
          </a:solidFill>
          <a:ln/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.NPZ Data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0" y="1257300"/>
            <a:ext cx="274320" cy="0"/>
          </a:xfrm>
          <a:prstGeom prst="line">
            <a:avLst/>
          </a:prstGeom>
          <a:noFill/>
          <a:ln w="25400">
            <a:solidFill>
              <a:srgbClr val="2D8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822960"/>
            <a:ext cx="1188720" cy="868680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0240" y="8229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257300"/>
            <a:ext cx="274320" cy="0"/>
          </a:xfrm>
          <a:prstGeom prst="line">
            <a:avLst/>
          </a:prstGeom>
          <a:noFill/>
          <a:ln w="25400">
            <a:solidFill>
              <a:srgbClr val="2D8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822960"/>
            <a:ext cx="1188720" cy="868680"/>
          </a:xfrm>
          <a:prstGeom prst="roundRect">
            <a:avLst>
              <a:gd name="adj" fmla="val 10526"/>
            </a:avLst>
          </a:prstGeom>
          <a:solidFill>
            <a:srgbClr val="6366F1"/>
          </a:solidFill>
          <a:ln/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8229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80:20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257300"/>
            <a:ext cx="274320" cy="0"/>
          </a:xfrm>
          <a:prstGeom prst="line">
            <a:avLst/>
          </a:prstGeom>
          <a:noFill/>
          <a:ln w="25400">
            <a:solidFill>
              <a:srgbClr val="2D8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822960"/>
            <a:ext cx="1188720" cy="868680"/>
          </a:xfrm>
          <a:prstGeom prst="roundRect">
            <a:avLst>
              <a:gd name="adj" fmla="val 10526"/>
            </a:avLst>
          </a:prstGeom>
          <a:solidFill>
            <a:srgbClr val="8B5CF6"/>
          </a:solidFill>
          <a:ln/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8229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257300"/>
            <a:ext cx="274320" cy="0"/>
          </a:xfrm>
          <a:prstGeom prst="line">
            <a:avLst/>
          </a:prstGeom>
          <a:noFill/>
          <a:ln w="25400">
            <a:solidFill>
              <a:srgbClr val="2D8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822960"/>
            <a:ext cx="1188720" cy="868680"/>
          </a:xfrm>
          <a:prstGeom prst="roundRect">
            <a:avLst>
              <a:gd name="adj" fmla="val 10526"/>
            </a:avLst>
          </a:prstGeom>
          <a:solidFill>
            <a:srgbClr val="A855F7"/>
          </a:solidFill>
          <a:ln/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8229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Epochs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0" y="1257300"/>
            <a:ext cx="274320" cy="0"/>
          </a:xfrm>
          <a:prstGeom prst="line">
            <a:avLst/>
          </a:prstGeom>
          <a:noFill/>
          <a:ln w="25400">
            <a:solidFill>
              <a:srgbClr val="2D8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822960"/>
            <a:ext cx="1188720" cy="868680"/>
          </a:xfrm>
          <a:prstGeom prst="roundRect">
            <a:avLst>
              <a:gd name="adj" fmla="val 10526"/>
            </a:avLst>
          </a:prstGeom>
          <a:solidFill>
            <a:srgbClr val="EC4899"/>
          </a:solidFill>
          <a:ln/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0" y="8229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SHAP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7360" y="1965960"/>
            <a:ext cx="1554480" cy="1188720"/>
          </a:xfrm>
          <a:prstGeom prst="rect">
            <a:avLst/>
          </a:prstGeom>
          <a:solidFill>
            <a:srgbClr val="111F3A"/>
          </a:solidFill>
          <a:ln/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14600" y="1691640"/>
            <a:ext cx="0" cy="274320"/>
          </a:xfrm>
          <a:prstGeom prst="line">
            <a:avLst/>
          </a:prstGeom>
          <a:noFill/>
          <a:ln w="12700">
            <a:solidFill>
              <a:srgbClr val="2D8CF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737360" y="1993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Domain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83080" y="224942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Std, RMS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Peak, Crest, P2P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1965960"/>
            <a:ext cx="1554480" cy="1188720"/>
          </a:xfrm>
          <a:prstGeom prst="rect">
            <a:avLst/>
          </a:prstGeom>
          <a:solidFill>
            <a:srgbClr val="111F3A"/>
          </a:solidFill>
          <a:ln/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77640" y="1691640"/>
            <a:ext cx="0" cy="274320"/>
          </a:xfrm>
          <a:prstGeom prst="line">
            <a:avLst/>
          </a:prstGeom>
          <a:noFill/>
          <a:ln w="12700">
            <a:solidFill>
              <a:srgbClr val="2D8C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3200400" y="1993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 Domain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46120" y="224942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Spectrum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Dom_Freq, FFT_Std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FFT_Mean, FFT_Peak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1965960"/>
            <a:ext cx="1554480" cy="1188720"/>
          </a:xfrm>
          <a:prstGeom prst="rect">
            <a:avLst/>
          </a:prstGeom>
          <a:solidFill>
            <a:srgbClr val="111F3A"/>
          </a:solidFill>
          <a:ln/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40680" y="1691640"/>
            <a:ext cx="0" cy="274320"/>
          </a:xfrm>
          <a:prstGeom prst="line">
            <a:avLst/>
          </a:prstGeom>
          <a:noFill/>
          <a:ln w="12700">
            <a:solidFill>
              <a:srgbClr val="2D8C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663440" y="1993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Shape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224942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4600 × 32 × 32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 per class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Balanced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337560"/>
            <a:ext cx="8412480" cy="1508760"/>
          </a:xfrm>
          <a:prstGeom prst="rect">
            <a:avLst/>
          </a:prstGeom>
          <a:solidFill>
            <a:srgbClr val="111F3A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" y="3337560"/>
            <a:ext cx="841248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730752"/>
            <a:ext cx="804672" cy="8686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730752"/>
            <a:ext cx="80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261872" y="4160520"/>
            <a:ext cx="1280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89888" y="3730752"/>
            <a:ext cx="804672" cy="8686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0" name="Text 38"/>
          <p:cNvSpPr/>
          <p:nvPr/>
        </p:nvSpPr>
        <p:spPr>
          <a:xfrm>
            <a:off x="1389888" y="3730752"/>
            <a:ext cx="80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194560" y="4160520"/>
            <a:ext cx="1280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22576" y="3730752"/>
            <a:ext cx="804672" cy="8686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3" name="Text 41"/>
          <p:cNvSpPr/>
          <p:nvPr/>
        </p:nvSpPr>
        <p:spPr>
          <a:xfrm>
            <a:off x="2322576" y="3730752"/>
            <a:ext cx="80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127248" y="4160520"/>
            <a:ext cx="1280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55264" y="3730752"/>
            <a:ext cx="804672" cy="8686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6" name="Text 44"/>
          <p:cNvSpPr/>
          <p:nvPr/>
        </p:nvSpPr>
        <p:spPr>
          <a:xfrm>
            <a:off x="3255264" y="3730752"/>
            <a:ext cx="80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filters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059936" y="4160520"/>
            <a:ext cx="1280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87952" y="3730752"/>
            <a:ext cx="804672" cy="8686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9" name="Text 47"/>
          <p:cNvSpPr/>
          <p:nvPr/>
        </p:nvSpPr>
        <p:spPr>
          <a:xfrm>
            <a:off x="4187952" y="3730752"/>
            <a:ext cx="80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992624" y="4160520"/>
            <a:ext cx="1280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20640" y="3730752"/>
            <a:ext cx="804672" cy="8686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2" name="Text 50"/>
          <p:cNvSpPr/>
          <p:nvPr/>
        </p:nvSpPr>
        <p:spPr>
          <a:xfrm>
            <a:off x="5120640" y="3730752"/>
            <a:ext cx="80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filters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925312" y="4160520"/>
            <a:ext cx="1280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53328" y="3730752"/>
            <a:ext cx="804672" cy="8686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5" name="Text 53"/>
          <p:cNvSpPr/>
          <p:nvPr/>
        </p:nvSpPr>
        <p:spPr>
          <a:xfrm>
            <a:off x="6053328" y="3730752"/>
            <a:ext cx="80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units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858000" y="4160520"/>
            <a:ext cx="1280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86016" y="3730752"/>
            <a:ext cx="804672" cy="8686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8" name="Text 56"/>
          <p:cNvSpPr/>
          <p:nvPr/>
        </p:nvSpPr>
        <p:spPr>
          <a:xfrm>
            <a:off x="6986016" y="3730752"/>
            <a:ext cx="80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790688" y="4160520"/>
            <a:ext cx="1280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918704" y="3730752"/>
            <a:ext cx="804672" cy="8686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1" name="Text 59"/>
          <p:cNvSpPr/>
          <p:nvPr/>
        </p:nvSpPr>
        <p:spPr>
          <a:xfrm>
            <a:off x="7918704" y="3730752"/>
            <a:ext cx="80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(Softmax)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237744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Vibration Signals per Fault Class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24128"/>
            <a:ext cx="8321040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3200400"/>
            <a:ext cx="8412480" cy="169164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32369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(Balanced) &amp; Frequency Spectrum (FFT)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474720"/>
            <a:ext cx="832104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937760" cy="411480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680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 — Accuracy &amp; Loss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51560"/>
            <a:ext cx="484632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713232"/>
            <a:ext cx="3291840" cy="411480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77840" y="768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1143000"/>
            <a:ext cx="3017520" cy="4572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0" name="Text 7"/>
          <p:cNvSpPr/>
          <p:nvPr/>
        </p:nvSpPr>
        <p:spPr>
          <a:xfrm>
            <a:off x="5650992" y="1143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040880" y="1143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995160" y="1216152"/>
            <a:ext cx="0" cy="31089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77840" y="1691640"/>
            <a:ext cx="3017520" cy="4572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4" name="Text 11"/>
          <p:cNvSpPr/>
          <p:nvPr/>
        </p:nvSpPr>
        <p:spPr>
          <a:xfrm>
            <a:off x="5650992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40880" y="1691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Cat. Cross-Entropy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95160" y="1764792"/>
            <a:ext cx="0" cy="31089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77840" y="2240280"/>
            <a:ext cx="3017520" cy="4572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8" name="Text 15"/>
          <p:cNvSpPr/>
          <p:nvPr/>
        </p:nvSpPr>
        <p:spPr>
          <a:xfrm>
            <a:off x="5650992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040880" y="2240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95160" y="2313432"/>
            <a:ext cx="0" cy="31089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77840" y="2788920"/>
            <a:ext cx="3017520" cy="4572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2" name="Text 19"/>
          <p:cNvSpPr/>
          <p:nvPr/>
        </p:nvSpPr>
        <p:spPr>
          <a:xfrm>
            <a:off x="5650992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04088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995160" y="2862072"/>
            <a:ext cx="0" cy="31089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77840" y="3337560"/>
            <a:ext cx="3017520" cy="4572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6" name="Text 23"/>
          <p:cNvSpPr/>
          <p:nvPr/>
        </p:nvSpPr>
        <p:spPr>
          <a:xfrm>
            <a:off x="5650992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040880" y="3337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995160" y="3410712"/>
            <a:ext cx="0" cy="31089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577840" y="3886200"/>
            <a:ext cx="3017520" cy="4572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0" name="Text 27"/>
          <p:cNvSpPr/>
          <p:nvPr/>
        </p:nvSpPr>
        <p:spPr>
          <a:xfrm>
            <a:off x="5650992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Fix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040880" y="3886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995160" y="3959352"/>
            <a:ext cx="0" cy="31089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577840" y="3703320"/>
            <a:ext cx="301752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4" name="Shape 31"/>
          <p:cNvSpPr/>
          <p:nvPr/>
        </p:nvSpPr>
        <p:spPr>
          <a:xfrm>
            <a:off x="5577840" y="3703320"/>
            <a:ext cx="301752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5" name="Text 32"/>
          <p:cNvSpPr/>
          <p:nvPr/>
        </p:nvSpPr>
        <p:spPr>
          <a:xfrm>
            <a:off x="5577840" y="3767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97.83%</a:t>
            </a:r>
            <a:endParaRPr lang="en-US" sz="3000" dirty="0"/>
          </a:p>
        </p:txBody>
      </p:sp>
      <p:sp>
        <p:nvSpPr>
          <p:cNvPr id="36" name="Text 33"/>
          <p:cNvSpPr/>
          <p:nvPr/>
        </p:nvSpPr>
        <p:spPr>
          <a:xfrm>
            <a:off x="5577840" y="4279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114800" cy="411480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68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10 Classes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42416"/>
            <a:ext cx="4023360" cy="3730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713232"/>
            <a:ext cx="4114800" cy="237744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768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Precision, Recall &amp; F1-Score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42416"/>
            <a:ext cx="4023360" cy="19933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63440" y="3218688"/>
            <a:ext cx="914400" cy="914400"/>
          </a:xfrm>
          <a:prstGeom prst="rect">
            <a:avLst/>
          </a:prstGeom>
          <a:solidFill>
            <a:srgbClr val="1A3A6B"/>
          </a:solidFill>
          <a:ln/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63440" y="3218688"/>
            <a:ext cx="91440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12" name="Text 8"/>
          <p:cNvSpPr/>
          <p:nvPr/>
        </p:nvSpPr>
        <p:spPr>
          <a:xfrm>
            <a:off x="4663440" y="3291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0.9796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3721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Precision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687568" y="3218688"/>
            <a:ext cx="914400" cy="914400"/>
          </a:xfrm>
          <a:prstGeom prst="rect">
            <a:avLst/>
          </a:prstGeom>
          <a:solidFill>
            <a:srgbClr val="1A3A6B"/>
          </a:solidFill>
          <a:ln/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87568" y="3218688"/>
            <a:ext cx="91440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16" name="Text 12"/>
          <p:cNvSpPr/>
          <p:nvPr/>
        </p:nvSpPr>
        <p:spPr>
          <a:xfrm>
            <a:off x="5687568" y="3291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0.9775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687568" y="3721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Recall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711696" y="3218688"/>
            <a:ext cx="914400" cy="914400"/>
          </a:xfrm>
          <a:prstGeom prst="rect">
            <a:avLst/>
          </a:prstGeom>
          <a:solidFill>
            <a:srgbClr val="1A3A6B"/>
          </a:solidFill>
          <a:ln/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711696" y="3218688"/>
            <a:ext cx="91440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20" name="Text 16"/>
          <p:cNvSpPr/>
          <p:nvPr/>
        </p:nvSpPr>
        <p:spPr>
          <a:xfrm>
            <a:off x="6711696" y="3291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0.9778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711696" y="3721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F1-Score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7735824" y="3218688"/>
            <a:ext cx="914400" cy="914400"/>
          </a:xfrm>
          <a:prstGeom prst="rect">
            <a:avLst/>
          </a:prstGeom>
          <a:solidFill>
            <a:srgbClr val="1A3A6B"/>
          </a:solidFill>
          <a:ln/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735824" y="3218688"/>
            <a:ext cx="91440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24" name="Text 20"/>
          <p:cNvSpPr/>
          <p:nvPr/>
        </p:nvSpPr>
        <p:spPr>
          <a:xfrm>
            <a:off x="7735824" y="3291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0.0642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7735824" y="3721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4663440" y="4251960"/>
            <a:ext cx="4096512" cy="594360"/>
          </a:xfrm>
          <a:prstGeom prst="rect">
            <a:avLst/>
          </a:prstGeom>
          <a:solidFill>
            <a:srgbClr val="111F3A"/>
          </a:solidFill>
          <a:ln/>
        </p:spPr>
      </p:sp>
      <p:sp>
        <p:nvSpPr>
          <p:cNvPr id="27" name="Text 23"/>
          <p:cNvSpPr/>
          <p:nvPr/>
        </p:nvSpPr>
        <p:spPr>
          <a:xfrm>
            <a:off x="4663440" y="4251960"/>
            <a:ext cx="4096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Model Parameters: 86,218  |  Total Samples: 4,600  |  10 Fault Classes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&amp;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3840480" cy="411480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68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 (Normal class)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42416"/>
            <a:ext cx="3749040" cy="3730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89120" y="713232"/>
            <a:ext cx="4389120" cy="192024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480560" y="7680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80560" y="111556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Dom_Freq (dominant frequency) is the most important feature — fault type clearly shifts frequency signature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480560" y="14630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P2P (peak-to-peak amplitude) is second — fault severity changes vibration amplitude range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480560" y="181051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RMS &amp; Peak energy metrics are strong indicators, especially for Ball faults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480560" y="215798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Geographic / ID features (Customer, Order) contribute minimally — physics drives this model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89120" y="2743200"/>
            <a:ext cx="4389120" cy="2084832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80560" y="27889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Dashboard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063240"/>
            <a:ext cx="4297680" cy="17190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114800" cy="411480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49808"/>
            <a:ext cx="41148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Achievements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182880" cy="182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16128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CNN+LSTM pipeline on CWRU bearing vibration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182880" cy="182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66420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97.83% test accuracy across all 10 fault classes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182880" cy="182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16712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dataset maintained — 460 samples per class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715768"/>
            <a:ext cx="182880" cy="182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67004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explainability: Dom_Freq &amp; P2P are top drivers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218688"/>
            <a:ext cx="182880" cy="182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17296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evaluation: Confusion matrix, P/R/F1 per class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" y="367588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749808"/>
            <a:ext cx="4114800" cy="4114800"/>
          </a:xfrm>
          <a:prstGeom prst="rect">
            <a:avLst/>
          </a:prstGeom>
          <a:solidFill>
            <a:srgbClr val="111F3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749808"/>
            <a:ext cx="411480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207008"/>
            <a:ext cx="3840480" cy="40233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12070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Real-time edge deployment on IoT vibration sensors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709928"/>
            <a:ext cx="3840480" cy="40233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17099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Experiment with Transformer-based models for time series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212848"/>
            <a:ext cx="3840480" cy="40233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22128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Multi-sensor fusion (temperature + vibration + current)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715768"/>
            <a:ext cx="3840480" cy="40233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9" name="Text 27"/>
          <p:cNvSpPr/>
          <p:nvPr/>
        </p:nvSpPr>
        <p:spPr>
          <a:xfrm>
            <a:off x="4828032" y="27157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dashboard for live fault monitoring &amp; alerts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218688"/>
            <a:ext cx="3840480" cy="40233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1" name="Text 29"/>
          <p:cNvSpPr/>
          <p:nvPr/>
        </p:nvSpPr>
        <p:spPr>
          <a:xfrm>
            <a:off x="4828032" y="32186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Extend to other bearing datasets (MFPT, IMS, FEMTO)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721608"/>
            <a:ext cx="3840480" cy="40233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3" name="Text 31"/>
          <p:cNvSpPr/>
          <p:nvPr/>
        </p:nvSpPr>
        <p:spPr>
          <a:xfrm>
            <a:off x="4828032" y="37216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Model compression / quantization for embedded systems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523</Words>
  <Application>Microsoft Macintosh PowerPoint</Application>
  <PresentationFormat>On-screen Show (16:9)</PresentationFormat>
  <Paragraphs>138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 - Bearing Fault Detection</dc:title>
  <dc:subject>PptxGenJS Presentation</dc:subject>
  <dc:creator>PptxGenJS</dc:creator>
  <cp:lastModifiedBy>Microsoft Office User</cp:lastModifiedBy>
  <cp:revision>2</cp:revision>
  <dcterms:created xsi:type="dcterms:W3CDTF">2026-04-25T06:59:44Z</dcterms:created>
  <dcterms:modified xsi:type="dcterms:W3CDTF">2026-04-25T07:09:53Z</dcterms:modified>
</cp:coreProperties>
</file>